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7.png"/><Relationship Id="rId7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9.png"/><Relationship Id="rId10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A904FA-7381-8224-F618-F92341B97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343" y="0"/>
            <a:ext cx="6890657" cy="6800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9486" y="1405027"/>
            <a:ext cx="482237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200" b="1" u="sng" dirty="0">
                <a:solidFill>
                  <a:srgbClr val="00B0F0"/>
                </a:solidFill>
              </a:rPr>
              <a:t>CDACL-006 Market Analysis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486" y="2885587"/>
            <a:ext cx="5009909" cy="1276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5400" b="1" dirty="0">
                <a:solidFill>
                  <a:srgbClr val="0284C7"/>
                </a:solidFill>
                <a:latin typeface="Inter Medium"/>
              </a:rPr>
              <a:t>Market Analysis </a:t>
            </a:r>
          </a:p>
          <a:p>
            <a:pPr>
              <a:lnSpc>
                <a:spcPts val="3120"/>
              </a:lnSpc>
            </a:pPr>
            <a:endParaRPr lang="en-US" sz="5400" b="1" dirty="0">
              <a:solidFill>
                <a:srgbClr val="0284C7"/>
              </a:solidFill>
              <a:latin typeface="Inter Medium"/>
            </a:endParaRPr>
          </a:p>
          <a:p>
            <a:pPr>
              <a:lnSpc>
                <a:spcPts val="3120"/>
              </a:lnSpc>
            </a:pPr>
            <a:r>
              <a:rPr lang="en-US" sz="5400" b="1" dirty="0">
                <a:solidFill>
                  <a:srgbClr val="0284C7"/>
                </a:solidFill>
                <a:latin typeface="Inter Medium"/>
              </a:rP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486" y="4557668"/>
            <a:ext cx="776151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Inter SemiBold"/>
              </a:rPr>
              <a:t>Insights &amp; Strategic Marketing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38364"/>
            <a:ext cx="5048250" cy="1059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260574"/>
            <a:ext cx="5300662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Project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Objective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051149"/>
            <a:ext cx="5048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Analyze core customer purchasing behavior and product performance across multiple departments to extract actionable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7132"/>
            <a:ext cx="5048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The primary goal is to leverage data validation to </a:t>
            </a:r>
            <a:r>
              <a:rPr sz="1650" b="1" i="0" u="none">
                <a:solidFill>
                  <a:srgbClr val="475569"/>
                </a:solidFill>
                <a:latin typeface="Inter"/>
              </a:rPr>
              <a:t>optimize marketing strategies</a:t>
            </a:r>
            <a:r>
              <a:rPr sz="1650" b="0" i="0" u="none">
                <a:solidFill>
                  <a:srgbClr val="475569"/>
                </a:solidFill>
                <a:latin typeface="Inter"/>
              </a:rPr>
              <a:t> and </a:t>
            </a:r>
            <a:r>
              <a:rPr sz="1650" b="1" i="0" u="none">
                <a:solidFill>
                  <a:srgbClr val="475569"/>
                </a:solidFill>
                <a:latin typeface="Inter"/>
              </a:rPr>
              <a:t>improve overall customer satisfaction</a:t>
            </a:r>
            <a:r>
              <a:rPr sz="16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690764"/>
            <a:ext cx="46482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Outfit"/>
              </a:rPr>
              <a:t>Strategic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957464"/>
            <a:ext cx="46482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75985"/>
                </a:solidFill>
                <a:latin typeface="Inter"/>
              </a:rPr>
              <a:t>Translating raw order statistics into personalized marketing frameworks and robust operational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4157"/>
            <a:ext cx="3492549" cy="32402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04157"/>
            <a:ext cx="3492549" cy="32402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04157"/>
            <a:ext cx="3492549" cy="32402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599432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62581" y="3551932"/>
            <a:ext cx="191023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Outfit SemiBold"/>
              </a:rPr>
              <a:t>Data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009132"/>
            <a:ext cx="309249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SQL-based processing of comprehensive transaction logs, validating core inputs directly against final query outputs.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599432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45893" y="3551932"/>
            <a:ext cx="170021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Outfit SemiBold"/>
              </a:rPr>
              <a:t>Dashboarding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824" y="4009132"/>
            <a:ext cx="309249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Creating dynamic Power BI visualizations to interactively monitor volume, reorder rates, and temporal purchasing patterns.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99" y="2599432"/>
            <a:ext cx="7620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59160" y="3551932"/>
            <a:ext cx="223027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Outfit SemiBold"/>
              </a:rPr>
              <a:t>Insight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4009132"/>
            <a:ext cx="309249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Bridging the gap between raw metrics and business meaning. Transforming descriptive statistics into prescriptive strategies.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4350" y="2828032"/>
            <a:ext cx="2667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550" y="2828032"/>
            <a:ext cx="3429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9999" y="2828032"/>
            <a:ext cx="2286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Dataset &amp;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Analysis Approach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25997"/>
            <a:ext cx="2547937" cy="2247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025997"/>
            <a:ext cx="2547937" cy="2247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911697"/>
            <a:ext cx="2547937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1911697"/>
            <a:ext cx="2547937" cy="2476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19250"/>
            <a:ext cx="11049000" cy="4610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2911822"/>
            <a:ext cx="216693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Outfit"/>
              </a:rPr>
              <a:t>1.05M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64297"/>
            <a:ext cx="21669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 SemiBold"/>
              </a:rPr>
              <a:t>TOTAL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5687" y="2911822"/>
            <a:ext cx="216693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Outfit"/>
              </a:rPr>
              <a:t>63.1K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687" y="3664297"/>
            <a:ext cx="21669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 SemiBold"/>
              </a:rPr>
              <a:t>UNIQUE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2797522"/>
            <a:ext cx="216693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Outfit"/>
              </a:rPr>
              <a:t>10.53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549997"/>
            <a:ext cx="21669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 SemiBold"/>
              </a:rPr>
              <a:t>AVG PRODUCTS/ORDER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3062" y="2797522"/>
            <a:ext cx="216693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Outfit"/>
              </a:rPr>
              <a:t>59.8%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3062" y="3549997"/>
            <a:ext cx="21669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 SemiBold"/>
              </a:rPr>
              <a:t>OVERALL REORDER RATE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3068" y="2473672"/>
            <a:ext cx="3048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2468" y="2473672"/>
            <a:ext cx="333375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443" y="2359372"/>
            <a:ext cx="3048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3181" y="2359372"/>
            <a:ext cx="266700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Executive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KPI Snapshot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1694"/>
            <a:ext cx="5286375" cy="45450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51694"/>
            <a:ext cx="5286375" cy="45450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594669"/>
            <a:ext cx="4505325" cy="8152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2731740"/>
            <a:ext cx="4505325" cy="815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2025" y="2042219"/>
            <a:ext cx="473059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284C7"/>
                </a:solidFill>
                <a:latin typeface="Outfit SemiBold"/>
              </a:rPr>
              <a:t>Basket-Based Shopping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600450"/>
            <a:ext cx="45053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Business Meaning: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Customers are not typically performing one-product transactions; they use the platform for comprehensive grocery runs.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566195"/>
            <a:ext cx="45053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Recommendation: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Shift primary marketing focus toward basket growth, bundling, and intelligent cross-selling rather than isolated individual-product conversion.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2179290"/>
            <a:ext cx="473059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284C7"/>
                </a:solidFill>
                <a:latin typeface="Outfit SemiBold"/>
              </a:rPr>
              <a:t>Strong Repeat Purchasing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737520"/>
            <a:ext cx="45053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Business Meaning: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The active user base is heavily engaged in recurring, replenishment-oriented shopping behavior.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703266"/>
            <a:ext cx="45053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Recommendation: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Invest deeply in loyalty programs and an automated replenishment marketing engine to capitalize on predictable recurring demand.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2747069"/>
            <a:ext cx="41052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Outfit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013769"/>
            <a:ext cx="41052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5803D"/>
                </a:solidFill>
                <a:latin typeface="Inter"/>
              </a:rPr>
              <a:t>The average order contains 10.53 distinct products.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4675" y="2884140"/>
            <a:ext cx="41052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Outfit"/>
              </a:rPr>
              <a:t>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4675" y="3150840"/>
            <a:ext cx="41052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5803D"/>
                </a:solidFill>
                <a:latin typeface="Inter"/>
              </a:rPr>
              <a:t>The platform maintains a 59.85% overall reorder 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Customer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Purchasing Behavior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61244"/>
            <a:ext cx="5286375" cy="3619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861244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Everyday Essentials Dominate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175569"/>
            <a:ext cx="5000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Order volume is heavily concentrated around fresh produce and core grocery items (e.g., Bananas, Organic Strawberries, Spinach, Avocados).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3656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Popularity vs. Loyalty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550890"/>
            <a:ext cx="5000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 high-volume product does not necessarily guarantee the highest reorder rate. These distinct signals require separated marketing treatments.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1188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Demand-Driven Assortment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926210"/>
            <a:ext cx="5000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Product assortment (total unique items in a category) alone should not dictate marketing visibility. It must be evaluated alongside actual order volume and loyalty metrics.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61244"/>
            <a:ext cx="5286375" cy="3619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Product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Performance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30697"/>
            <a:ext cx="11049000" cy="47872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45447"/>
            <a:ext cx="11049000" cy="9295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82947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Category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Reorder Behavior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3064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7822"/>
            <a:ext cx="11049000" cy="507295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8322"/>
            <a:ext cx="11049000" cy="9295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340072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Department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Customer Reach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987772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079801"/>
            <a:ext cx="5381625" cy="9295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5079801"/>
            <a:ext cx="5381625" cy="1203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374451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Time-Based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Purchasing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2215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D5FBF-092F-4A43-FC8F-2AD0125BA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971" y="1168791"/>
            <a:ext cx="8469086" cy="3911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4157"/>
            <a:ext cx="3492549" cy="32402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04157"/>
            <a:ext cx="3492549" cy="32402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04157"/>
            <a:ext cx="3492549" cy="32402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599432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2536" y="3551932"/>
            <a:ext cx="26303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Outfit SemiBold"/>
              </a:rPr>
              <a:t>VIP &amp; High-Frequency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009132"/>
            <a:ext cx="309249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Top-tier users with the highest order counts. Requires dedicated retention efforts, premium loyalty benefits, and exclusive access.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599432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55857" y="3551932"/>
            <a:ext cx="228028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Outfit SemiBold"/>
              </a:rPr>
              <a:t>Regular &amp; Frequent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824" y="4009132"/>
            <a:ext cx="309249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 core shopping base. Ideal target for basket size expansion, frequently-bought-together suggestions, and smart bundles.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99" y="2599432"/>
            <a:ext cx="7620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09216" y="3551932"/>
            <a:ext cx="133016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Outfit SemiBold"/>
              </a:rPr>
              <a:t>Occasional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4009132"/>
            <a:ext cx="309249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Low frequency users. Marketing should focus on re-engagement campaigns, product discovery, and win-back promotions.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250" y="2828032"/>
            <a:ext cx="3429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550" y="2828032"/>
            <a:ext cx="3429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1899" y="2828032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Customer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Frequency Segmentation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33500" y="1074539"/>
            <a:ext cx="9525000" cy="128200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19250" y="1265039"/>
            <a:ext cx="895350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Build a Replenishment Engine</a:t>
            </a:r>
            <a:r>
              <a:rPr lang="en-US" sz="1350" b="1" i="0" u="none" dirty="0">
                <a:solidFill>
                  <a:srgbClr val="0F172A"/>
                </a:solidFill>
                <a:latin typeface="Inter"/>
              </a:rPr>
              <a:t> : 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Use high-reorder categories (Milk, Eggs, Fresh Fruits) to trigger personalized repeat-purchase prompts and recurring-order options.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074539"/>
            <a:ext cx="38100" cy="128200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2499419"/>
            <a:ext cx="9525000" cy="128200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19250" y="2689919"/>
            <a:ext cx="895350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Increase Basket Size via Cross-Selling</a:t>
            </a:r>
            <a:r>
              <a:rPr lang="en-US" sz="1350" b="1" i="0" u="none" dirty="0">
                <a:solidFill>
                  <a:srgbClr val="0F172A"/>
                </a:solidFill>
                <a:latin typeface="Inter"/>
              </a:rPr>
              <a:t> : 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Leverage the 10.53 avg basket size to introduce 'complete your order' suggestions and complementary smart bundles.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2499419"/>
            <a:ext cx="38100" cy="128200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33500" y="3924300"/>
            <a:ext cx="9525000" cy="128200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9250" y="4114800"/>
            <a:ext cx="895350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Make Routine Shopping Easier</a:t>
            </a:r>
            <a:r>
              <a:rPr lang="en-US" sz="1350" b="1" i="0" u="none" dirty="0">
                <a:solidFill>
                  <a:srgbClr val="0F172A"/>
                </a:solidFill>
                <a:latin typeface="Inter"/>
              </a:rPr>
              <a:t> : 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Implement a 'Your usual basket' or 'Buy Again' UX element allowing customers to instantly re-add their frequently purchased items.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3500" y="3924300"/>
            <a:ext cx="38100" cy="128200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33500" y="5349180"/>
            <a:ext cx="9525000" cy="128200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19250" y="5539680"/>
            <a:ext cx="895350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Protect High-Reorder Inventory</a:t>
            </a:r>
            <a:r>
              <a:rPr lang="en-US" sz="1350" b="1" i="0" u="none" dirty="0">
                <a:solidFill>
                  <a:srgbClr val="0F172A"/>
                </a:solidFill>
                <a:latin typeface="Inter"/>
              </a:rPr>
              <a:t> : 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Guarantee stock availability, robust inventory attention, and premium visibility for categories customers repeatedly depend 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3500" y="5349180"/>
            <a:ext cx="38100" cy="128200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6789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Marketing &amp;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Customer Satisfaction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674489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957387"/>
          <a:ext cx="11048998" cy="393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0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76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Outfit"/>
                        </a:rPr>
                        <a:t>Performance Segment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Outfit"/>
                        </a:rPr>
                        <a:t>Business Meaning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Outfit"/>
                        </a:rPr>
                        <a:t>Recommended 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76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284C7"/>
                          </a:solidFill>
                          <a:latin typeface="Inter SemiBold"/>
                        </a:rPr>
                        <a:t>High Vol + High Reorder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Core products with both popularity and loyalty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Protect availability, loyalty campaigns, replenishment reminders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76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0B981"/>
                          </a:solidFill>
                          <a:latin typeface="Inter SemiBold"/>
                        </a:rPr>
                        <a:t>High Vol + Low Reorder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Popular products with weaker repeat behavior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Focus on discovery, targeted promotions, and cross-selling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76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59E0B"/>
                          </a:solidFill>
                          <a:latin typeface="Inter SemiBold"/>
                        </a:rPr>
                        <a:t>Low Vol + High Reorder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Niche products with extremely strong loyalty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Targeted replenishment and highly personalized recommendations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76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F4444"/>
                          </a:solidFill>
                          <a:latin typeface="Inter SemiBold"/>
                        </a:rPr>
                        <a:t>Low Vol + Low Reorder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Weak demand/loyalty products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Review overall visibility, assortment, pricing, and promotion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3648075"/>
            <a:ext cx="23991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70609" y="3648075"/>
            <a:ext cx="3659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29995" y="3648075"/>
            <a:ext cx="4990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4457700"/>
            <a:ext cx="23991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70609" y="4457700"/>
            <a:ext cx="3659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29995" y="4457700"/>
            <a:ext cx="4990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5267325"/>
            <a:ext cx="23991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70609" y="5267325"/>
            <a:ext cx="3659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995" y="5267325"/>
            <a:ext cx="4990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Recommended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Segmentation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8574"/>
            <a:ext cx="3492549" cy="1905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68574"/>
            <a:ext cx="3492549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68574"/>
            <a:ext cx="3492549" cy="1905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186" y="4352180"/>
            <a:ext cx="366717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Outfit"/>
              </a:rPr>
              <a:t>Automated Replenishment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14130"/>
            <a:ext cx="34925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Prioritize personalized reminders for high-loyalty, everyday grocery items to secure recurring revenue.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2485" y="4352180"/>
            <a:ext cx="366717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Outfit"/>
              </a:rPr>
              <a:t>Inventory Prioritization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9799" y="4714130"/>
            <a:ext cx="34925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Ensure maximum availability and visibility for the ~20K repeatedly reordered products.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0785" y="4352180"/>
            <a:ext cx="366717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Outfit"/>
              </a:rPr>
              <a:t>Customer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99" y="4714130"/>
            <a:ext cx="34925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Enhance satisfaction by simplifying routine shopping and timing campaigns to match validated behavioral peaks.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68574"/>
            <a:ext cx="3492549" cy="1905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9799" y="2168574"/>
            <a:ext cx="3492549" cy="1905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99" y="2168574"/>
            <a:ext cx="3492549" cy="190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Key </a:t>
            </a:r>
            <a:r>
              <a:rPr sz="3150" b="1" i="0" u="none">
                <a:solidFill>
                  <a:srgbClr val="0284C7"/>
                </a:solidFill>
                <a:latin typeface="Outfit"/>
              </a:rPr>
              <a:t>Business Takeaways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0" y="4318545"/>
            <a:ext cx="5067300" cy="571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5275" y="1910804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0284C7"/>
                </a:solidFill>
                <a:latin typeface="Outfit"/>
              </a:rPr>
              <a:t>Conclusion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63329"/>
            <a:ext cx="11049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Analysis derived from validated SQL outputs and dashboarding.</a:t>
            </a:r>
            <a:r>
              <a:t>
</a:t>
            </a:r>
            <a:r>
              <a:rPr sz="1800" b="0" i="0" u="none">
                <a:solidFill>
                  <a:srgbClr val="475569"/>
                </a:solidFill>
                <a:latin typeface="Inter"/>
              </a:rPr>
              <a:t> Ready for strategic implementation.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350" y="4528095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70000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2652861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63572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42049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64333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64333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6261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6261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4109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4109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51957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51957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8543"/>
            <a:ext cx="857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66875" y="1812875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static.vecteezy.com/system/resources/thumbnails/078/645/776/small_2x/businessman-in-office-using-computer-monitor-for-data-analysis-and-finance-strategy-thoughtful-professional-man-looking-at-analytics-dashboard-charts-and-market-report-city-skyline-through-window-free-video.j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2256680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01404"/>
            <a:ext cx="857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66875" y="2795736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https://cdn-ilemced.nitrocdn.com/SqMYyFrQNplpiMNaFWlDJqjyEDUfAVkC/assets/images/optimized/rev-7fefe1d/www.thegoodtrade.com/wp-content/uploads/2026/07/organic-produce-boxes-header-488x650-350x466.jpeg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3239541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www.thegoodtrade.com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85145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6875" y="3778597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https://zeew.eu/wp-content/uploads/2026/01/ChatGPT-Image-Jan-27-2026-01_09_14-AM.png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4024312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zeew.eu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69916"/>
            <a:ext cx="857250" cy="476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66875" y="4563367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https://naturefreshfarms.com/wp-content/uploads/2024/08/How-To-Organize-Your-Fridge-InsideFridge-terraskitchen.jpg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4809083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naturefreshfarms.com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453806"/>
            <a:ext cx="857250" cy="4762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66875" y="5348138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static.vecteezy.com/system/resources/thumbnails/072/330/335/small_2x/grocery-shopping-delivery-smiling-consumer-paying-with-debit-card-for-groceries-receiving-shopper-with-food-products-from-supermarket-african-american-courier-guy-giving-mesh-bag-to-client-at-home-photo.jp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5791944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Outfit"/>
              </a:rPr>
              <a:t>Image 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812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Inter</vt:lpstr>
      <vt:lpstr>Inter Medium</vt:lpstr>
      <vt:lpstr>Inter SemiBold</vt:lpstr>
      <vt:lpstr>Outfit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yuvraj yuvraj</cp:lastModifiedBy>
  <cp:revision>3</cp:revision>
  <dcterms:created xsi:type="dcterms:W3CDTF">2013-01-27T09:14:16Z</dcterms:created>
  <dcterms:modified xsi:type="dcterms:W3CDTF">2026-08-21T08:54:44Z</dcterms:modified>
  <cp:category/>
</cp:coreProperties>
</file>